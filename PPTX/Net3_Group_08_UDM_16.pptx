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59" r:id="rId6"/>
    <p:sldId id="275" r:id="rId7"/>
    <p:sldId id="276" r:id="rId8"/>
    <p:sldId id="277" r:id="rId9"/>
    <p:sldId id="260" r:id="rId10"/>
    <p:sldId id="261" r:id="rId11"/>
    <p:sldId id="262" r:id="rId12"/>
    <p:sldId id="271" r:id="rId13"/>
    <p:sldId id="265" r:id="rId14"/>
    <p:sldId id="263" r:id="rId15"/>
    <p:sldId id="272" r:id="rId16"/>
    <p:sldId id="273" r:id="rId17"/>
    <p:sldId id="274" r:id="rId18"/>
  </p:sldIdLst>
  <p:sldSz cx="12192000" cy="6858000"/>
  <p:notesSz cx="6858000" cy="12192000"/>
  <p:embeddedFontLst>
    <p:embeddedFont>
      <p:font typeface="Arial Black" panose="020B0A04020102020204" pitchFamily="34" charset="0"/>
      <p:bold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BM Plex Mono" panose="020B0509050203000203" pitchFamily="49" charset="0"/>
      <p:regular r:id="rId25"/>
      <p:bold r:id="rId26"/>
      <p:italic r:id="rId27"/>
      <p:boldItalic r:id="rId28"/>
    </p:embeddedFont>
    <p:embeddedFont>
      <p:font typeface="Inter" panose="020B0604020202020204" charset="0"/>
      <p:regular r:id="rId29"/>
    </p:embeddedFont>
    <p:embeddedFont>
      <p:font typeface="Inter Bold" panose="020B0604020202020204" charset="0"/>
      <p:regular r:id="rId30"/>
    </p:embeddedFont>
    <p:embeddedFont>
      <p:font typeface="Montserrat Bold" panose="020B0604020202020204" charset="0"/>
      <p:regular r:id="rId31"/>
    </p:embeddedFont>
    <p:embeddedFont>
      <p:font typeface="Open Sans Bold" panose="020B0604020202020204" charset="0"/>
      <p:regular r:id="rId32"/>
    </p:embeddedFont>
    <p:embeddedFont>
      <p:font typeface="Petrona Bold" panose="020B0604020202020204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4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7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A2F">
                    <a:alpha val="98000"/>
                  </a:srgbClr>
                </a:gs>
                <a:gs pos="58000">
                  <a:srgbClr val="071A2F">
                    <a:alpha val="72000"/>
                  </a:srgbClr>
                </a:gs>
                <a:gs pos="100000">
                  <a:srgbClr val="071A2F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1119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5000" y="1365250"/>
            <a:ext cx="88900" cy="1905000"/>
            <a:chOff x="0" y="0"/>
            <a:chExt cx="17780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800" cy="3810000"/>
            </a:xfrm>
            <a:custGeom>
              <a:avLst/>
              <a:gdLst/>
              <a:ahLst/>
              <a:cxnLst/>
              <a:rect l="l" t="t" r="r" b="b"/>
              <a:pathLst>
                <a:path w="177800" h="3810000">
                  <a:moveTo>
                    <a:pt x="0" y="0"/>
                  </a:moveTo>
                  <a:lnTo>
                    <a:pt x="177800" y="0"/>
                  </a:lnTo>
                  <a:lnTo>
                    <a:pt x="1778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4C95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7800" cy="3848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>
                <a:lnSpc>
                  <a:spcPts val="1119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35000" y="965200"/>
            <a:ext cx="4826000" cy="16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00" b="1" spc="119">
                <a:solidFill>
                  <a:srgbClr val="19C4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LẬP TRÌNH MẠNG - GV hướng dẫn : Th.S Mai Ngọc Châu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3240" y="1789747"/>
            <a:ext cx="584200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05"/>
              </a:lnSpc>
            </a:pPr>
            <a:r>
              <a:rPr lang="en-US" sz="41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 Game</a:t>
            </a:r>
          </a:p>
          <a:p>
            <a:pPr>
              <a:lnSpc>
                <a:spcPts val="4305"/>
              </a:lnSpc>
            </a:pPr>
            <a:r>
              <a:rPr lang="en-US" sz="41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Caro Trực Tuyến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5000" y="3686209"/>
            <a:ext cx="4826000" cy="203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Net3_Group_08  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Lê Lý Phúc An ( Nhóm Trưởng )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Lê Thế Kiệt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Lê Quốc Kim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Võ Thị Kim Kiều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Nguyễn Trọng Vân Khuyên</a:t>
            </a:r>
          </a:p>
          <a:p>
            <a:pPr>
              <a:lnSpc>
                <a:spcPts val="1960"/>
              </a:lnSpc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Nguyễn Văn Hiếu</a:t>
            </a:r>
          </a:p>
          <a:p>
            <a:pPr>
              <a:lnSpc>
                <a:spcPts val="1960"/>
              </a:lnSpc>
            </a:pPr>
            <a:endParaRPr lang="en-US" sz="14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13901" y="6446904"/>
            <a:ext cx="5715000" cy="16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00">
                <a:solidFill>
                  <a:srgbClr val="19C4D8"/>
                </a:solidFill>
                <a:latin typeface="IBM Plex Mono"/>
                <a:ea typeface="IBM Plex Mono"/>
                <a:cs typeface="IBM Plex Mono"/>
                <a:sym typeface="IBM Plex Mono"/>
              </a:rPr>
              <a:t>CLIENT–SERVER  /  REAL-TIME  /  SERVER-AUTHORITATIVE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237D39-4415-6CE3-A729-A0E8DB9D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66A074D-957B-B78E-15D1-C31AAA397D40}"/>
              </a:ext>
            </a:extLst>
          </p:cNvPr>
          <p:cNvGraphicFramePr>
            <a:graphicFrameLocks noGrp="1"/>
          </p:cNvGraphicFramePr>
          <p:nvPr/>
        </p:nvGraphicFramePr>
        <p:xfrm>
          <a:off x="245410" y="859941"/>
          <a:ext cx="11701182" cy="5697010"/>
        </p:xfrm>
        <a:graphic>
          <a:graphicData uri="http://schemas.openxmlformats.org/drawingml/2006/table">
            <a:tbl>
              <a:tblPr/>
              <a:tblGrid>
                <a:gridCol w="2297499">
                  <a:extLst>
                    <a:ext uri="{9D8B030D-6E8A-4147-A177-3AD203B41FA5}">
                      <a16:colId xmlns:a16="http://schemas.microsoft.com/office/drawing/2014/main" val="3128655765"/>
                    </a:ext>
                  </a:extLst>
                </a:gridCol>
                <a:gridCol w="1298415">
                  <a:extLst>
                    <a:ext uri="{9D8B030D-6E8A-4147-A177-3AD203B41FA5}">
                      <a16:colId xmlns:a16="http://schemas.microsoft.com/office/drawing/2014/main" val="3075195529"/>
                    </a:ext>
                  </a:extLst>
                </a:gridCol>
                <a:gridCol w="5154321">
                  <a:extLst>
                    <a:ext uri="{9D8B030D-6E8A-4147-A177-3AD203B41FA5}">
                      <a16:colId xmlns:a16="http://schemas.microsoft.com/office/drawing/2014/main" val="238944059"/>
                    </a:ext>
                  </a:extLst>
                </a:gridCol>
                <a:gridCol w="2950947">
                  <a:extLst>
                    <a:ext uri="{9D8B030D-6E8A-4147-A177-3AD203B41FA5}">
                      <a16:colId xmlns:a16="http://schemas.microsoft.com/office/drawing/2014/main" val="1954060753"/>
                    </a:ext>
                  </a:extLst>
                </a:gridCol>
              </a:tblGrid>
              <a:tr h="361048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THÀNH VIÊN</a:t>
                      </a: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VAI TRÒ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MODULE CODE CHÍNH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CÔNG VIỆC DOCX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33771"/>
                  </a:ext>
                </a:extLst>
              </a:tr>
              <a:tr h="866147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Lê Lý Phúc An (Leader)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Kiến trúc &amp; Tích hợp hệ thống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Thiết kế kiến trúc, Socket TCP Server, Connection Manager, Session Manager, Shared Library, tích hợp các module, review code, merge nhánh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vi-VN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Chương 1 (Tổng quan), Chương 3 (Kiến trúc hệ thống), rà soát toàn bộ báo cáo</a:t>
                      </a:r>
                      <a:endParaRPr lang="vi-VN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45004"/>
                  </a:ext>
                </a:extLst>
              </a:tr>
              <a:tr h="1034513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Lê Thế Kiệt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Backend - Game Logic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Board, Move, Room Manager, Match Manager, Validate Move, kiểm tra thắng/thua/hòa, Timer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vi-VN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Chương 2 (Yêu cầu chức năng), Activity Diagram, Sequence Diagram (Luồng chơi game)</a:t>
                      </a:r>
                      <a:endParaRPr lang="vi-VN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022597"/>
                  </a:ext>
                </a:extLst>
              </a:tr>
              <a:tr h="556251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Lê Quốc Kim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Frontend - Client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Login UI, Lobby UI, Game UI, Spectator UI, hiển thị Timer, cập nhật trạng thái bàn cờ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Thiết kế GUI, Use Case Diagram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091449"/>
                  </a:ext>
                </a:extLst>
              </a:tr>
              <a:tr h="697781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Võ Thị Kim Kiều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Database &amp; History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Database Layer, Repository, Match History, Config (IP/Port), màn hình lịch sử trận đấu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Thiết kế CSDL, ERD, Data Dictionary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46464"/>
                  </a:ext>
                </a:extLst>
              </a:tr>
              <a:tr h="1034513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Nguyễn Trọng Vân Khuyên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Lobby &amp; Network Message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Online Player List, Invite/Accept/Reject, Join/Leave Room, Message Packet, JSON Serializer, Connection Status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Protocol Message, Test Case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27555"/>
                  </a:ext>
                </a:extLst>
              </a:tr>
              <a:tr h="1146757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Nguyễn văn hiếu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Client Networ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Xây dựng Client Network Layer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 Xây dựng lớp trung gian 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ClientConnection.cs cung cấp Event cho các Form giao diện. </a:t>
                      </a: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300" b="0" i="0" kern="1200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  <a:t>Mô tả giao tiếp Client–Server</a:t>
                      </a:r>
                      <a:br>
                        <a:rPr lang="en-US" sz="1300">
                          <a:solidFill>
                            <a:schemeClr val="bg1"/>
                          </a:solidFill>
                          <a:effectLst/>
                          <a:latin typeface="Open Sans Bold" panose="020B0806030504020204" charset="0"/>
                          <a:ea typeface="Open Sans Bold" panose="020B0806030504020204" charset="0"/>
                          <a:cs typeface="Open Sans Bold" panose="020B0806030504020204" charset="0"/>
                        </a:rPr>
                      </a:br>
                      <a:endParaRPr lang="en-US" sz="1300">
                        <a:solidFill>
                          <a:schemeClr val="bg1"/>
                        </a:solidFill>
                        <a:effectLst/>
                        <a:latin typeface="Open Sans Bold" panose="020B0806030504020204" charset="0"/>
                        <a:ea typeface="Open Sans Bold" panose="020B0806030504020204" charset="0"/>
                        <a:cs typeface="Open Sans Bold" panose="020B0806030504020204" charset="0"/>
                      </a:endParaRPr>
                    </a:p>
                  </a:txBody>
                  <a:tcPr marL="7337" marR="7337" marT="7337" marB="7337" anchor="ctr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585568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51CE425D-D7B5-3983-9C9D-56E884AE6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600" y="969090"/>
            <a:ext cx="12317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60" tIns="30480" rIns="60960" bIns="3048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304CE-0C79-3DE0-E80E-A9D6A2184E8E}"/>
              </a:ext>
            </a:extLst>
          </p:cNvPr>
          <p:cNvSpPr txBox="1"/>
          <p:nvPr/>
        </p:nvSpPr>
        <p:spPr>
          <a:xfrm>
            <a:off x="3860800" y="278825"/>
            <a:ext cx="69088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BẢNG PHÂN CÔNG NHIỆM VỤ</a:t>
            </a:r>
          </a:p>
        </p:txBody>
      </p:sp>
    </p:spTree>
    <p:extLst>
      <p:ext uri="{BB962C8B-B14F-4D97-AF65-F5344CB8AC3E}">
        <p14:creationId xmlns:p14="http://schemas.microsoft.com/office/powerpoint/2010/main" val="86892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956" y="92115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b="1"/>
              <a:t>1. TỔNG QUAN ĐỀ TÀI</a:t>
            </a:r>
          </a:p>
        </p:txBody>
      </p:sp>
      <p:sp>
        <p:nvSpPr>
          <p:cNvPr id="3" name="Shape 1"/>
          <p:cNvSpPr/>
          <p:nvPr/>
        </p:nvSpPr>
        <p:spPr>
          <a:xfrm>
            <a:off x="619955" y="1952410"/>
            <a:ext cx="5476043" cy="2700834"/>
          </a:xfrm>
          <a:prstGeom prst="roundRect">
            <a:avLst>
              <a:gd name="adj" fmla="val 5039"/>
            </a:avLst>
          </a:prstGeom>
          <a:solidFill>
            <a:srgbClr val="1B174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8963" y="2096871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Thách thức bài toán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08963" y="2595941"/>
            <a:ext cx="509802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Đảm bảo tính nhất quán dữ liệu bàn cờ khi nhiều người cùng thao tác đồng thời.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Xử lý độ trễ mạng và hiện tượng dính/phân mảnh gói tin TCP (Partial Read).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Phục hồi ván đấu mượt mà khi người chơi gặp sự cố gián đoạn kết nối.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7382" y="2096871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Mục tiêu hệ thống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427382" y="2595941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Xây dựng Game Caro thời gian thực theo mô hình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Server-Authoritative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Đồ họa mượt mà không nháy hình, chống spam nước đi phía Client.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Tích hợp chế độ đấu Bot AI (Minimax) và theo dõi Lịch sử/Spectator.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858" y="46808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KIẾN TRÚC 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TỔNG THỂ CLIENT – SERVER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25" y="1114030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Mô hình xử lý tập trung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3953" y="1601758"/>
            <a:ext cx="3896726" cy="1773800"/>
          </a:xfrm>
          <a:prstGeom prst="roundRect">
            <a:avLst>
              <a:gd name="adj" fmla="val 624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7825" y="1712551"/>
            <a:ext cx="332483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Client (A/B/Spectator)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7825" y="1950577"/>
            <a:ext cx="3324836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Bắt sự kiện người dùng ➔ Gửi Yêu cầu ➔ Chỉ hiển thị kết quả do Server trả về.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5097" y="1592308"/>
            <a:ext cx="3755652" cy="1773799"/>
          </a:xfrm>
          <a:prstGeom prst="roundRect">
            <a:avLst>
              <a:gd name="adj" fmla="val 624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7939" y="1724510"/>
            <a:ext cx="332483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TCP Server Core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77939" y="1962536"/>
            <a:ext cx="3324836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"Bộ não" trung tâm giữ Master State (Quản lý Phòng, Bàn cờ, Session kết nối).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67023" y="1613773"/>
            <a:ext cx="3811023" cy="1754001"/>
          </a:xfrm>
          <a:prstGeom prst="roundRect">
            <a:avLst>
              <a:gd name="adj" fmla="val 624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1441" y="1738194"/>
            <a:ext cx="332483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SQL Server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91441" y="1976220"/>
            <a:ext cx="332483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Bộ nhớ dài hạn (Lưu Users</a:t>
            </a:r>
            <a:r>
              <a:rPr lang="en-US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Matches,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History</a:t>
            </a:r>
            <a:r>
              <a:rPr lang="en-US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25" y="3664229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Luồng giao tiếp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48" y="4006140"/>
            <a:ext cx="6885163" cy="31512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84120" y="6066290"/>
            <a:ext cx="1586817" cy="64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Cập nhật &amp; Broadcast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62829" y="6174240"/>
            <a:ext cx="1586817" cy="64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Server Validate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163089" y="5949413"/>
            <a:ext cx="1586817" cy="962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Gửi MoveMessage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448260" y="6073894"/>
            <a:ext cx="1586817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Client bấm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8713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MÔ HÌNH THIẾT KẾ — 3 PROJECTS ĐỘC LẬP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26952"/>
            <a:ext cx="3496877" cy="36023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183" y="22554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908399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Shared (Ngôn ngữ chung)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75881" y="3331865"/>
            <a:ext cx="3068065" cy="2183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Chứa DTO, Enums (MatchState), 16 class Messages kế thừa BaseMessage.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Bộ mã hóa/giải mã polymorphism JsonSerializer &amp; PacketParser.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126952"/>
            <a:ext cx="3496877" cy="36023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4067" y="22554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61766" y="2908399"/>
            <a:ext cx="306806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Server (Xử lý &amp; Lưu trữ)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61766" y="3331865"/>
            <a:ext cx="3068065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TcpServer, ConnectionManager (ConcurrentDictionary).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GameRuleService, ReconnectManager, CaroBot (Minimax).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126952"/>
            <a:ext cx="3496877" cy="36023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39952" y="22554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247650" y="2908399"/>
            <a:ext cx="3068065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Client (Giao diện &amp; Kết nối)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47650" y="3641923"/>
            <a:ext cx="3068065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LoginForm, LobbyForm, RoomForm, GameForm, HistoryForm.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 kiện tự vẽ BoardControl (GDI+) &amp; TcpClientService.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E3EC40-5ED1-D34F-7B9D-B3115DFE0B91}"/>
              </a:ext>
            </a:extLst>
          </p:cNvPr>
          <p:cNvSpPr/>
          <p:nvPr/>
        </p:nvSpPr>
        <p:spPr>
          <a:xfrm>
            <a:off x="1323255" y="173124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/>
              <a:t>SƠ ĐỒ USECASE</a:t>
            </a: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789F2-694F-EA8C-A993-970178F81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210" y="1"/>
            <a:ext cx="593979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1CA3DE-3282-8212-9375-148D7E08BC16}"/>
              </a:ext>
            </a:extLst>
          </p:cNvPr>
          <p:cNvSpPr txBox="1"/>
          <p:nvPr/>
        </p:nvSpPr>
        <p:spPr>
          <a:xfrm>
            <a:off x="284291" y="2416777"/>
            <a:ext cx="5503666" cy="4195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/>
              <a:t>Nhóm Khách (Guest):</a:t>
            </a:r>
            <a:r>
              <a:rPr lang="vi-VN"/>
              <a:t> UC01 Cấu hình IP ➔ UC02 Đăng ký tài khoản ➔ UC03 Đăng nhập ➔ UC04 Thoát ứng dụng.</a:t>
            </a:r>
          </a:p>
          <a:p>
            <a:pPr>
              <a:lnSpc>
                <a:spcPct val="150000"/>
              </a:lnSpc>
            </a:pPr>
            <a:r>
              <a:rPr lang="vi-VN" b="1"/>
              <a:t>Nhóm Người chơi — Sảnh &amp; Phòng:</a:t>
            </a:r>
            <a:r>
              <a:rPr lang="vi-VN"/>
              <a:t> UC05 Xem danh sách phòng ➔ UC06 Danh sách người online ➔ UC07 Tạo phòng ➔ UC08 Vào phòng ➔ UC09 Thách đấu ➔ UC10 Đấu Bot AI.</a:t>
            </a:r>
          </a:p>
          <a:p>
            <a:pPr>
              <a:lnSpc>
                <a:spcPct val="150000"/>
              </a:lnSpc>
            </a:pPr>
            <a:r>
              <a:rPr lang="vi-VN" b="1"/>
              <a:t>Nhóm Người chơi — Thi đấu &amp; Xem:</a:t>
            </a:r>
            <a:r>
              <a:rPr lang="vi-VN"/>
              <a:t> UC12 Đánh cờ ➔ UC13 Xem trận (Spectator) ➔ UC14 Chat phòng ➔ UC15 Rời phòng ➔ UC16 Đăng xuất.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6EC4AA2-7DF6-2D3B-9A7F-4279A834C7C7}"/>
              </a:ext>
            </a:extLst>
          </p:cNvPr>
          <p:cNvSpPr/>
          <p:nvPr/>
        </p:nvSpPr>
        <p:spPr>
          <a:xfrm>
            <a:off x="-2326829" y="245266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/>
              <a:t>CHƯƠNG 2 &amp; 3: PHÂN TÍCH YÊU CẦU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800" b="1"/>
              <a:t>VÀ THIẾT KẾ HỆ THỐNG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59814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C0F0B0-53B2-3662-62F6-1558876E05D0}"/>
              </a:ext>
            </a:extLst>
          </p:cNvPr>
          <p:cNvSpPr/>
          <p:nvPr/>
        </p:nvSpPr>
        <p:spPr>
          <a:xfrm>
            <a:off x="661627" y="1172183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/>
              <a:t>SƠ ĐỒ HOẠT ĐỘNG</a:t>
            </a:r>
            <a:endParaRPr lang="en-US" sz="3200" b="1" dirty="0"/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930C9EE0-42E9-EAE4-4D43-A0FD50F66B8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98159" y="40640"/>
            <a:ext cx="6512561" cy="6776720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06872-C43C-2B0C-7278-AFC939D7B8CD}"/>
              </a:ext>
            </a:extLst>
          </p:cNvPr>
          <p:cNvSpPr txBox="1"/>
          <p:nvPr/>
        </p:nvSpPr>
        <p:spPr>
          <a:xfrm>
            <a:off x="0" y="1892499"/>
            <a:ext cx="529336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Luồng hoạt động: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/>
              <a:t>Đăng nhập &amp; điều hướng vào Lobby sảnh chờ.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/>
              <a:t>Tạo hoặc tham gia phòng thi đấu, chờ đủ người và khởi tạo Match.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/>
              <a:t>Người chơi thực hiện nước đi ➔ Gửi gói tin lên Server kiểm tra tính hợp lệ.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/>
              <a:t>Server broadcast trạng thái bàn cờ mới nhất đến 2 đấu thủ và khán giả.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vi-VN"/>
              <a:t>Thuật toán thẩm định thắng/hòa ➔ Chốt kết quả, ghi nhận vào CSDL và quay về Lobby.</a:t>
            </a:r>
          </a:p>
        </p:txBody>
      </p:sp>
    </p:spTree>
    <p:extLst>
      <p:ext uri="{BB962C8B-B14F-4D97-AF65-F5344CB8AC3E}">
        <p14:creationId xmlns:p14="http://schemas.microsoft.com/office/powerpoint/2010/main" val="202363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92069C-B10B-4CD7-B866-61AE05FFF598}"/>
              </a:ext>
            </a:extLst>
          </p:cNvPr>
          <p:cNvSpPr/>
          <p:nvPr/>
        </p:nvSpPr>
        <p:spPr>
          <a:xfrm>
            <a:off x="280735" y="24185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/>
              <a:t>SƠ ĐỒ CƠ SỞ DỮ LIỆU</a:t>
            </a: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27CD00-2084-0112-5829-4698D7B50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70" y="862075"/>
            <a:ext cx="10000210" cy="57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6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21" y="1110229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Giao thức mạng &amp; cấu trúc packet 8-byte header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168" y="1508974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Cấu trúc Gói tin (Length-Prefixed Framing)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321" y="1861364"/>
            <a:ext cx="10868745" cy="37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[TYPE: 4 Bytes] + [LENGTH: 4 Bytes] + [PAYLOAD: JSON UTF-8]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Header cố định </a:t>
            </a: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8 Bytes</a:t>
            </a: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giúp nhận diện ranh giới gói tin chuẩn xác trên luồng TCP.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321" y="2620513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Quy trình 5 Bước Validate tại PacketParser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1322" y="3008485"/>
            <a:ext cx="460661" cy="523576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5285" y="3246014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92129" y="3123578"/>
            <a:ext cx="103379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Kiểm tra Header 8B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322" y="3599232"/>
            <a:ext cx="460661" cy="523576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5285" y="3836761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2129" y="3782566"/>
            <a:ext cx="103379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Validate Type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322" y="4195661"/>
            <a:ext cx="460661" cy="557412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285" y="4433190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2281" y="4401243"/>
            <a:ext cx="103379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Kiểm tra Length (Max 1MB)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1321" y="4824657"/>
            <a:ext cx="460661" cy="557412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285" y="5023208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92129" y="4959050"/>
            <a:ext cx="103379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Check JSON Format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1322" y="5434705"/>
            <a:ext cx="460661" cy="557412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285" y="567223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92129" y="5672233"/>
            <a:ext cx="103379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Validate MessageId (GUID)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475" y="6086178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Giải quyết dính/xé gói tin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1475" y="6380460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Hàm ReadExactAsync() đọc tích lũy đủ số byte yêu cầu trước khi Unpack.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190AF2-B987-65BC-7384-635116BA0294}"/>
              </a:ext>
            </a:extLst>
          </p:cNvPr>
          <p:cNvSpPr txBox="1"/>
          <p:nvPr/>
        </p:nvSpPr>
        <p:spPr>
          <a:xfrm>
            <a:off x="549715" y="406701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vi-VN" b="1" kern="100">
                <a:solidFill>
                  <a:srgbClr val="000000"/>
                </a:solidFill>
                <a:effectLst/>
                <a:latin typeface="Arial" panose="020B0604020202020204" pitchFamily="34" charset="0"/>
                <a:ea typeface="DengXian Light" panose="02010600030101010101" pitchFamily="2" charset="-122"/>
                <a:cs typeface="Arial" panose="020B0604020202020204" pitchFamily="34" charset="0"/>
              </a:rPr>
              <a:t>CHƯƠNG 4: CÀI ĐẶT VÀ PHÁT TRIỂN HỆ THỐNG</a:t>
            </a:r>
            <a:endParaRPr lang="en-US" b="1" kern="100">
              <a:solidFill>
                <a:srgbClr val="000000"/>
              </a:solidFill>
              <a:effectLst/>
              <a:latin typeface="Arial" panose="020B0604020202020204" pitchFamily="34" charset="0"/>
              <a:ea typeface="DengXian Light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473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QUẢN LÝ ĐA LUỒNG &amp; THREAD-SAFE UI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525350" y="2530376"/>
            <a:ext cx="5476043" cy="2700834"/>
          </a:xfrm>
          <a:prstGeom prst="roundRect">
            <a:avLst>
              <a:gd name="adj" fmla="val 5039"/>
            </a:avLst>
          </a:prstGeom>
          <a:solidFill>
            <a:srgbClr val="1B174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719388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Phía Server (Async Multi-client)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4357" y="3218458"/>
            <a:ext cx="509802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Mỗi Client kết nối được quản lý bằng ClientSession chạy trong Task.Run riêng biệt.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Dùng ConcurrentDictionary quản lý danh sách Online chống Race Condition.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32776" y="2719388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Petrona Bold" pitchFamily="34" charset="-122"/>
                <a:cs typeface="Arial" panose="020B0604020202020204" pitchFamily="34" charset="0"/>
              </a:rPr>
              <a:t>Phía Client (Thread-Safe UI)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32776" y="3218458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Phản hồi mạng trả về trên </a:t>
            </a:r>
            <a:r>
              <a:rPr lang="en-US" sz="17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Network Thread</a:t>
            </a:r>
            <a:r>
              <a:rPr lang="en-US" sz="17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WinForms yêu cầu cập nhật ở </a:t>
            </a:r>
            <a:r>
              <a:rPr lang="en-US" sz="17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UI Thread</a:t>
            </a:r>
            <a:r>
              <a:rPr lang="en-US" sz="17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Áp dụng Pattern: if (InvokeRequired) BeginInvoke(...) trên tất cả các Form (LoginForm, GameForm...).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Tự động unbind sự kiện OnMessageReceived -= Handler khi chuyển cảnh để tránh trùng lặp dữ liệu.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097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GAME LOGIC &amp; THẨM ĐỊNH NƯỚC ĐI TẠI SERVER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091134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Domain Model (Board.cs &amp; Match.cs)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2684661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Bàn cờ biểu diễn bằng mảng 2 chiều CellState1.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Quản lý vòng đời trận đấu qua State Machine: Waiting ➔ Playing ➔ Suspended ➔ Finished.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39046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Quy trình Validate Nước đi (GameRuleService.cs)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42325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Thẩm định 6 loại điều kiện: Đúng lượt, Ô trống, Tọa độ hợp lệ, Trạng thái bàn cờ...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6010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Thuật toán kiểm tra thắng: Quét 4 hướng (Ngang, Dọc, 2 Chéo) </a:t>
            </a:r>
            <a:r>
              <a:rPr lang="en-US" sz="14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đạt </a:t>
            </a:r>
            <a:r>
              <a:rPr lang="en-US" sz="1350" i="1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4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từ 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vị trí vừa đặt.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677" y="4656535"/>
            <a:ext cx="391607" cy="2469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1474" y="5345806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Hệ thống Timer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61475" y="58130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Bộ đếm lượt đi 60s/lượt (GameTimerService), hết giờ tự động xử thua do Timeout.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44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TÍNH NĂNG NÂNG CAO — CHẾ ĐỘ ĐẤU BOT AI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4" y="1867484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Thuật toán cốt lõi (CaroBot.cs)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61627" y="2720630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Áp dụng 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Minimax Algorithm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kết hợp 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Alpha-Beta Pruning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cắt tỉa nhánh thừa.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Đánh giá bàn cờ bằng bảng điểm Heuristic chuẩn: 5 quân = 100,000pt, 4 quân mở 2 đầu = 10,000pt...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801911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Tối ưu không gian tìm kiếm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61475" y="4581572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Chỉ sinh ứng viên (GenerateCandidateMoves) tại các ô trống bán kính 1-2 ô quanh các quân cờ đã đặt (Tối đa 20 ô).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Sắp xếp ứng viên trước khi chạy đệ quy ➔ Giúp Alpha-Beta cắt tỉa sớm, phản hồi dưới 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800ms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8137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TÍNH NĂNG NÂNG CAO — HỆ THỐNG RECONNECT &amp; GRACE PERIOD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124174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Kịch bản sự cố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271770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Người chơi bị rớt mạng hoặc tắt app đột ngột khi đang thi đấu.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0358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Cơ chế xử lý Grace Period (ReconnectManager.cs)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3897114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chuyển trạng thái trận đấu sang Suspended (Tạm dừng), không xử thua ngay.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Kích hoạt Timer đếm ngược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 giây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(mặc định) hoặc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120 giây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(mở rộng nếu đối thủ chấp nhận chờ).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85149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Phục hồi trong suốt (TryReconnectAsync)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1475" y="544502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Khi người chơi Đăng nhập lại ➔ Server phát hiện đang trong Grace Period ➔ Tự động bỏ qua Lobby, Sync chuỗi 225 ô cờ và đưa thẳng người chơi quay lại bàn cờ.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020" y="730300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CLIENT UI — LỚP ĐỒ HỌA GDI+ &amp; TƯƠNG TÁC NGƯỜI DÙNG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525350" y="2685454"/>
            <a:ext cx="5570650" cy="3365149"/>
          </a:xfrm>
          <a:prstGeom prst="roundRect">
            <a:avLst>
              <a:gd name="adj" fmla="val 4520"/>
            </a:avLst>
          </a:prstGeom>
          <a:solidFill>
            <a:srgbClr val="1B174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874466"/>
            <a:ext cx="5098029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Linh kiện BoardControl.cs (GDI+ Custom Draw)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4357" y="3683595"/>
            <a:ext cx="509802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Bật DoubleBuffered = true: Bàn cờ vẽ ngầm vào RAM giúp render mượt, hoàn toàn không nháy hình.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Tự động tính toán khung ô cờ, hiệu ứng hover chiếu sáng ô dưới con trỏ chuột.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Tô nền màu vàng </a:t>
            </a: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winBgColor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gạch vệt đỏ </a:t>
            </a: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winLineColor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xuyên qua 5 ô chiến thắng.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2856" y="3179604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Trải nghiệm tương tác Client-Side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62856" y="3678675"/>
            <a:ext cx="520379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Gán _isMyTurn = false lập tức khi vừa đánh cờ ➔ Khóa bàn cờ chống người dùng spam click khi trễ mạng.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Đồng bộ màn hình Khán giả (Spectator) bằng chuỗi 225 ký tự BoardState.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19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CHƯƠNG 5: ĐÁNH </a:t>
            </a: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GIÁ HỆ THỐNG &amp; GIỚI HẠN DỰ ÁN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5350" y="1894880"/>
            <a:ext cx="5696156" cy="3412226"/>
          </a:xfrm>
          <a:prstGeom prst="roundRect">
            <a:avLst>
              <a:gd name="adj" fmla="val 5039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083891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Ưu điểm nổi bật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4357" y="2582962"/>
            <a:ext cx="509802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Độ ổn định cao: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Đa luồng xử lý mượt, không lỗi kẹt thread hay nháy hình GDI+.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Tính công bằng tuyệt đối: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 kiểm soát toàn bộ nước đi, thời gian và luật chơi.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Khả năng chịu lỗi: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Tự động phục hồi khi ngắt kết nối nhờ Reconnect Manager.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32776" y="2083891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Hạn chế hiện tại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32776" y="2582962"/>
            <a:ext cx="520379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Chưa tích hợp thuật toán ghép trận tự động dựa trên chỉ số Elo (Auto-Matchmaking).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Giao diện Client hiện tại chỉ hỗ trợ trên nền tảng Windows (WinForms .NET 10).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160"/>
            <a:ext cx="10868745" cy="5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HƯỚNG PHÁT TRIỂN &amp; TỔNG KẾT DỰ ÁN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139924"/>
            <a:ext cx="10868745" cy="42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Hướng phát triển tương lai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75619"/>
            <a:ext cx="10868745" cy="974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0346" y="2110680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69691" y="1957090"/>
            <a:ext cx="9879063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Mở rộng mã hóa kết nối mạng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9691" y="2307332"/>
            <a:ext cx="987906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 giao thức SSL/TLS (Secure Socket).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89746"/>
            <a:ext cx="10868745" cy="9746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0346" y="3224808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469691" y="3071217"/>
            <a:ext cx="9879063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Phát triển thêm hệ thống Bảng xếp hạng Elo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9691" y="3421459"/>
            <a:ext cx="987906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 toàn hệ thống.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03873"/>
            <a:ext cx="10868745" cy="9746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0346" y="4338935"/>
            <a:ext cx="243576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469691" y="4185345"/>
            <a:ext cx="9879063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Tách API giao tiếp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9691" y="4535587"/>
            <a:ext cx="987906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Để phát triển Client Đa nền tảng (Web ReactJS / Mobile Flutter).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61475" y="5187851"/>
            <a:ext cx="10868745" cy="42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Lời kết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661475" y="582354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Game Caro Trực Tuyến hoàn thành trọn vẹn mục tiêu đề ra, đảm bảo tính thời gian thực, độ tin cậy và kiến trúc mở dễ dàng nâng cấp.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E70FA-6F4D-8182-2200-E0C4AC767AA0}"/>
              </a:ext>
            </a:extLst>
          </p:cNvPr>
          <p:cNvSpPr txBox="1"/>
          <p:nvPr/>
        </p:nvSpPr>
        <p:spPr>
          <a:xfrm>
            <a:off x="1840149" y="2644170"/>
            <a:ext cx="8511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008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1764</Words>
  <Application>Microsoft Office PowerPoint</Application>
  <PresentationFormat>Widescreen</PresentationFormat>
  <Paragraphs>183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Inter</vt:lpstr>
      <vt:lpstr>Montserrat Bold</vt:lpstr>
      <vt:lpstr>Consolas</vt:lpstr>
      <vt:lpstr>Arial</vt:lpstr>
      <vt:lpstr>Inter Bold</vt:lpstr>
      <vt:lpstr>Open Sans Bold</vt:lpstr>
      <vt:lpstr>IBM Plex Mono</vt:lpstr>
      <vt:lpstr>Petrona Bold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quoc kim</cp:lastModifiedBy>
  <cp:revision>4</cp:revision>
  <dcterms:created xsi:type="dcterms:W3CDTF">2026-09-26T15:06:12Z</dcterms:created>
  <dcterms:modified xsi:type="dcterms:W3CDTF">2026-09-26T16:37:08Z</dcterms:modified>
</cp:coreProperties>
</file>